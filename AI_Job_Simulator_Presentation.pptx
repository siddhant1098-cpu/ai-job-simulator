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1400" b="1">
                <a:solidFill>
                  <a:srgbClr val="7C6BB5"/>
                </a:solidFill>
              </a:defRPr>
            </a:pPr>
            <a:r>
              <a:t>🌿  AI JOB SIMULATOR</a:t>
            </a:r>
          </a:p>
          <a:p>
            <a:pPr>
              <a:spcBef>
                <a:spcPts val="1000"/>
              </a:spcBef>
              <a:defRPr sz="3800" b="1">
                <a:solidFill>
                  <a:srgbClr val="1E293B"/>
                </a:solidFill>
              </a:defRPr>
            </a:pPr>
            <a:r>
              <a:t>Human-Centered Workplace Simulation &amp;</a:t>
            </a:r>
          </a:p>
          <a:p>
            <a:pPr>
              <a:defRPr sz="3800" b="1">
                <a:solidFill>
                  <a:srgbClr val="7C6BB5"/>
                </a:solidFill>
              </a:defRPr>
            </a:pPr>
            <a:r>
              <a:t>On-Device Anti-Cheat Proctoring</a:t>
            </a:r>
          </a:p>
          <a:p>
            <a:pPr>
              <a:spcBef>
                <a:spcPts val="1800"/>
              </a:spcBef>
              <a:defRPr sz="1500">
                <a:solidFill>
                  <a:srgbClr val="64748B"/>
                </a:solidFill>
              </a:defRPr>
            </a:pPr>
            <a:r>
              <a:t>Real-time conversational interviews, empathetic AI mentoring, and privacy-preserving computer vision.</a:t>
            </a:r>
          </a:p>
          <a:p>
            <a:pPr>
              <a:spcBef>
                <a:spcPts val="3000"/>
              </a:spcBef>
              <a:defRPr sz="1200" b="1">
                <a:solidFill>
                  <a:srgbClr val="2D6A4F"/>
                </a:solidFill>
              </a:defRPr>
            </a:pPr>
            <a:r>
              <a:t>Speakers: 4-Member Team   •   Time Limit: 8 Minutes   •   Stack: React 19, FastAPI, Google Gemini,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The Assessment Dilemma: Robotic Tests vs. Real-World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8D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 wrap="square"/>
          <a:lstStyle/>
          <a:p>
            <a:pPr algn="ctr">
              <a:defRPr b="1" sz="1400">
                <a:solidFill>
                  <a:srgbClr val="BE283C"/>
                </a:solidFill>
              </a:defRPr>
            </a:pPr>
            <a:r>
              <a:t>❌  THE OLD WAY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Cold, Robotic Interfaces: Static multiple-choice questionnaires that do not test how people speak or collaborate.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Harsh &amp; Rigid AI Grading: Pedantic keyword matching penalizes everyday human explanations that possess solid common sense.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Remote Integrity Vulnerability: Exams are vulnerable to mobile phones, unauthorized second persons, and copy-pasting.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EEF7F2"/>
          </a:solidFill>
          <a:ln w="19050">
            <a:solidFill>
              <a:srgbClr val="CDE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 wrap="square"/>
          <a:lstStyle/>
          <a:p>
            <a:pPr algn="ctr">
              <a:defRPr b="1" sz="1400">
                <a:solidFill>
                  <a:srgbClr val="2D6A4F"/>
                </a:solidFill>
              </a:defRPr>
            </a:pPr>
            <a:r>
              <a:t>✓  OUR SOLUTION: AI JOB SIMULATOR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Spoken Human Dialogue: Candidates listen to a natural human voice and speak their answers naturally aloud.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Empathetic Practical Evaluation: Grades practical problem solving, empathy, and composure with generous, mentor-like coaching.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100% On-Device Anti-Cheat: Real-time MediaPipe Vision detects phones, absence, and blocks clipboard shortcuts with zero cloud video upload.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Full-Stack System Architecture &amp; Technology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2EDFD"/>
          </a:solidFill>
          <a:ln w="12700">
            <a:solidFill>
              <a:srgbClr val="7C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100" b="1">
                <a:solidFill>
                  <a:srgbClr val="7C6BB5"/>
                </a:solidFill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React 19 + Vite + Tailwind v4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Minimal pastel UI, client-side session routing, Recharts visual analytics, and reactive question runner.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100" b="1">
                <a:solidFill>
                  <a:srgbClr val="2D6A4F"/>
                </a:solidFill>
              </a:defRPr>
            </a:pPr>
            <a:r>
              <a:t>AI &amp; REASONING ENGINE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Google Gemini 3.5 Flash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Sub-second workplace scenario generation, multi-criteria answer evaluation, and json-repair fault tolerance.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EF7EC"/>
          </a:solidFill>
          <a:ln w="12700">
            <a:solidFill>
              <a:srgbClr val="C25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100" b="1">
                <a:solidFill>
                  <a:srgbClr val="C25B32"/>
                </a:solidFill>
              </a:defRPr>
            </a:pPr>
            <a:r>
              <a:t>VISION PROCTORING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MediaPipe Tasks Vision (WASM)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Client-side BlazeFace presence check and EfficientDet-Lite0 mobile phone detection running 100% in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2EDFD"/>
          </a:solidFill>
          <a:ln w="12700">
            <a:solidFill>
              <a:srgbClr val="7C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100" b="1">
                <a:solidFill>
                  <a:srgbClr val="7C6BB5"/>
                </a:solidFill>
              </a:defRPr>
            </a:pPr>
            <a:r>
              <a:t>BACKEND API LAYER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FastAPI (Python) + Uvicorn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High-throughput asynchronous REST API, Pydantic v2 schemas, and zero-database stateless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Conversational Speech &amp; Fair, Empathetic Human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wrap="square"/>
          <a:lstStyle/>
          <a:p>
            <a:pPr algn="ctr">
              <a:defRPr b="1" sz="1300">
                <a:solidFill>
                  <a:srgbClr val="7C6BB5"/>
                </a:solidFill>
              </a:defRPr>
            </a:pPr>
            <a:r>
              <a:t>NATURAL SPEECH &amp; FAIR MARKING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Warm Spoken Tone (0.95x): Auto-selects top natural human voices in Chrome/Edge. Questions flow conversationally like a senior colleague over coffee.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Respects Human Speech: Spoken answers are transcribed live. The evaluation ignores filler words and values common sense, empathy, and practical initiative.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Generous Scoring Bands: Thoughtful practical answers score 7.5 to 9.5 / 10 instead of harsh penalties for missing textbook terminology.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Supportive Mentoring: Every evaluation delivers genuine praise, an ideal framing from a senior peer, and gentle growth steps.</a:t>
            </a:r>
          </a:p>
        </p:txBody>
      </p:sp>
      <p:pic>
        <p:nvPicPr>
          <p:cNvPr id="5" name="Picture 4" descr="screen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Strict Anti-Cheat Proctoring: On-Device Vision &amp; Clipboard Lock</a:t>
            </a:r>
          </a:p>
        </p:txBody>
      </p:sp>
      <p:pic>
        <p:nvPicPr>
          <p:cNvPr id="4" name="Picture 3" descr="screen_pr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wrap="square"/>
          <a:lstStyle/>
          <a:p>
            <a:pPr algn="ctr">
              <a:defRPr b="1" sz="1300">
                <a:solidFill>
                  <a:srgbClr val="C25B32"/>
                </a:solidFill>
              </a:defRPr>
            </a:pPr>
            <a:r>
              <a:t>MULTI-LAYER PROCTORING DEFENSE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📱 AI Mobile Phone Detection: MediaPipe EfficientDet-Lite0 scans every video frame for smartphones. Detecting a phone immediately blurs the screen and pauses the exam.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👤 Presence &amp; Multi-Person Lock: MediaPipe BlazeFace verifies single-candidate presence every 500ms. Leaving the frame or a second face triggers an instant blur.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🚫 Clipboard &amp; Text Lock: Text selection is disabled. Copy, cut, and paste events are intercepted and blocked with real-time warning toasts.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• 📑 Tab-Switch &amp; Inactivity Tracking: Monitors document visibility. Navigating away to another browser tab immediately blurs the test and logs a violation.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Comprehensive Debrief: Visual Analytics &amp; Proctor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Balanced Evaluation Rubric</a:t>
            </a:r>
          </a:p>
          <a:p>
            <a:pPr>
              <a:spcBef>
                <a:spcPts val="200"/>
              </a:spcBef>
              <a:defRPr sz="1100" b="1">
                <a:solidFill>
                  <a:srgbClr val="2D6A4F"/>
                </a:solidFill>
              </a:defRPr>
            </a:pPr>
            <a:r>
              <a:t>Exact 40 / 30 / 30 Math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Evaluates Practical Solution (40%), Composure &amp; Problem Solving (30%), and Communication (30%) computed with exact code arithmetic.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2EDFD"/>
          </a:solidFill>
          <a:ln w="12700">
            <a:solidFill>
              <a:srgbClr val="7C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Interactive Visual Analytics</a:t>
            </a:r>
          </a:p>
          <a:p>
            <a:pPr>
              <a:spcBef>
                <a:spcPts val="200"/>
              </a:spcBef>
              <a:defRPr sz="1100" b="1">
                <a:solidFill>
                  <a:srgbClr val="7C6BB5"/>
                </a:solidFill>
              </a:defRPr>
            </a:pPr>
            <a:r>
              <a:t>Recharts Competency Radar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Radar profile and performance bar charts provide candidate and recruiter with an instant graphical overview of core strengths.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EF7EC"/>
          </a:solidFill>
          <a:ln w="12700">
            <a:solidFill>
              <a:srgbClr val="C25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Empowering Career Mentoring</a:t>
            </a:r>
          </a:p>
          <a:p>
            <a:pPr>
              <a:spcBef>
                <a:spcPts val="200"/>
              </a:spcBef>
              <a:defRPr sz="1100" b="1">
                <a:solidFill>
                  <a:srgbClr val="C25B32"/>
                </a:solidFill>
              </a:defRPr>
            </a:pPr>
            <a:r>
              <a:t>Actionable Next Steps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Identifies 3 concrete strengths and 2 gentle growth areas, plus 3 tailored next steps to prepare candidates for real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DF0ED"/>
          </a:solidFill>
          <a:ln w="12700">
            <a:solidFill>
              <a:srgbClr val="B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Strict Proctor Integrity Audit</a:t>
            </a:r>
          </a:p>
          <a:p>
            <a:pPr>
              <a:spcBef>
                <a:spcPts val="200"/>
              </a:spcBef>
              <a:defRPr sz="1100" b="1">
                <a:solidFill>
                  <a:srgbClr val="BE283C"/>
                </a:solidFill>
              </a:defRPr>
            </a:pPr>
            <a:r>
              <a:t>Full Transparent Audit Trail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Reports exact counts of Mobile Phone sightings, Clipboard paste attempts, Tab switches, and Face absences with verified clean 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BB5"/>
                </a:solidFill>
              </a:defRPr>
            </a:pPr>
            <a:r>
              <a:t>AI JOB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Engineering Excellence: Zero-Database Resilience &amp; 1-Click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2EDFD"/>
          </a:solidFill>
          <a:ln w="12700">
            <a:solidFill>
              <a:srgbClr val="7C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Zero-Database Stateless Architecture</a:t>
            </a:r>
          </a:p>
          <a:p>
            <a:pPr>
              <a:spcBef>
                <a:spcPts val="200"/>
              </a:spcBef>
              <a:defRPr sz="1100" b="1">
                <a:solidFill>
                  <a:srgbClr val="7C6BB5"/>
                </a:solidFill>
              </a:defRPr>
            </a:pPr>
            <a:r>
              <a:t>Client-Side LocalStorage Engine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No user database or login barriers. Candidate sessions, question states, audio transcripts, and integrity logs persist locally in browser localStorage.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Mid-Test Refresh Resume</a:t>
            </a:r>
          </a:p>
          <a:p>
            <a:pPr>
              <a:spcBef>
                <a:spcPts val="200"/>
              </a:spcBef>
              <a:defRPr sz="1100" b="1">
                <a:solidFill>
                  <a:srgbClr val="2D6A4F"/>
                </a:solidFill>
              </a:defRPr>
            </a:pPr>
            <a:r>
              <a:t>Timestamp-Based Recovery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Accidental browser refreshes or disconnects show a 1-click 'Resume Session' screen, re-requesting media permissions and continuing without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EF7EC"/>
          </a:solidFill>
          <a:ln w="12700">
            <a:solidFill>
              <a:srgbClr val="C25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Self-Installing 1-Click Launcher</a:t>
            </a:r>
          </a:p>
          <a:p>
            <a:pPr>
              <a:spcBef>
                <a:spcPts val="200"/>
              </a:spcBef>
              <a:defRPr sz="1100" b="1">
                <a:solidFill>
                  <a:srgbClr val="C25B32"/>
                </a:solidFill>
              </a:defRPr>
            </a:pPr>
            <a:r>
              <a:t>Plug-and-Play start.bat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Intelligent launcher verifies Python and Node.js, auto-installs missing npm and pip dependencies, configures .env, and boots both servers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2EDFD"/>
          </a:solidFill>
          <a:ln w="12700">
            <a:solidFill>
              <a:srgbClr val="7C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Future Scalability Roadmap</a:t>
            </a:r>
          </a:p>
          <a:p>
            <a:pPr>
              <a:spcBef>
                <a:spcPts val="200"/>
              </a:spcBef>
              <a:defRPr sz="1100" b="1">
                <a:solidFill>
                  <a:srgbClr val="7C6BB5"/>
                </a:solidFill>
              </a:defRPr>
            </a:pPr>
            <a:r>
              <a:t>Enterprise &amp; Global Recruiting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Next milestones: Custom company knowledge base simulation, ATS integrations (Greenhouse/Workday), and real-time multilingual roleplays.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